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1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08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41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58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8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2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07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5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81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9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7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127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587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120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650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312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218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74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4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  <p:sldLayoutId id="2147484099" r:id="rId12"/>
    <p:sldLayoutId id="2147484100" r:id="rId13"/>
    <p:sldLayoutId id="2147484101" r:id="rId14"/>
    <p:sldLayoutId id="2147484102" r:id="rId15"/>
    <p:sldLayoutId id="2147484103" r:id="rId16"/>
    <p:sldLayoutId id="214748410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b="1" dirty="0" err="1">
                <a:solidFill>
                  <a:srgbClr val="1E3A8A"/>
                </a:solidFill>
              </a:rPr>
              <a:t>eX</a:t>
            </a:r>
            <a:r>
              <a:rPr b="1" dirty="0" err="1">
                <a:solidFill>
                  <a:srgbClr val="1E3A8A"/>
                </a:solidFill>
              </a:rPr>
              <a:t>treme</a:t>
            </a:r>
            <a:r>
              <a:rPr b="1" dirty="0">
                <a:solidFill>
                  <a:srgbClr val="1E3A8A"/>
                </a:solidFill>
              </a:rPr>
              <a:t> Programming (XP)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7567" y="3820396"/>
            <a:ext cx="5308866" cy="1377651"/>
          </a:xfrm>
        </p:spPr>
        <p:txBody>
          <a:bodyPr>
            <a:normAutofit/>
          </a:bodyPr>
          <a:lstStyle/>
          <a:p>
            <a:r>
              <a:rPr lang="pt-BR" sz="2800" b="1" dirty="0" err="1">
                <a:solidFill>
                  <a:srgbClr val="1E3A8A"/>
                </a:solidFill>
              </a:rPr>
              <a:t>Adriel</a:t>
            </a:r>
            <a:r>
              <a:rPr lang="pt-BR" sz="2800" b="1" dirty="0">
                <a:solidFill>
                  <a:srgbClr val="1E3A8A"/>
                </a:solidFill>
              </a:rPr>
              <a:t>, José, </a:t>
            </a:r>
            <a:r>
              <a:rPr lang="pt-BR" sz="2800" b="1" dirty="0" err="1">
                <a:solidFill>
                  <a:srgbClr val="1E3A8A"/>
                </a:solidFill>
              </a:rPr>
              <a:t>Mahuri</a:t>
            </a:r>
            <a:r>
              <a:rPr lang="pt-BR" sz="2800" b="1" dirty="0">
                <a:solidFill>
                  <a:srgbClr val="1E3A8A"/>
                </a:solidFill>
              </a:rPr>
              <a:t>, Sonny, Vinícius e Yuri</a:t>
            </a:r>
            <a:endParaRPr sz="2800" b="1" dirty="0">
              <a:solidFill>
                <a:srgbClr val="1E3A8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810834"/>
            <a:ext cx="6798734" cy="1303867"/>
          </a:xfrm>
        </p:spPr>
        <p:txBody>
          <a:bodyPr>
            <a:normAutofit fontScale="90000"/>
          </a:bodyPr>
          <a:lstStyle/>
          <a:p>
            <a:r>
              <a:rPr lang="pt-BR" sz="6600" dirty="0">
                <a:solidFill>
                  <a:srgbClr val="000000"/>
                </a:solidFill>
              </a:rPr>
              <a:t>Introdução</a:t>
            </a:r>
            <a:br>
              <a:rPr lang="pt-BR" sz="6600" dirty="0">
                <a:solidFill>
                  <a:srgbClr val="000000"/>
                </a:solidFill>
              </a:rPr>
            </a:br>
            <a:r>
              <a:rPr lang="pt-BR" sz="3600" dirty="0">
                <a:solidFill>
                  <a:srgbClr val="000000"/>
                </a:solidFill>
              </a:rPr>
              <a:t>Contexto Histórico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>
                <a:solidFill>
                  <a:srgbClr val="000000"/>
                </a:solidFill>
              </a:rPr>
              <a:t>• Anos 1990: projetos de software sofriam com atrasos, manutenção difícil e pouca adaptação.</a:t>
            </a:r>
          </a:p>
          <a:p>
            <a:pPr marL="0" indent="0">
              <a:buNone/>
            </a:pPr>
            <a:r>
              <a:rPr lang="pt-BR" sz="2000" dirty="0">
                <a:solidFill>
                  <a:srgbClr val="000000"/>
                </a:solidFill>
              </a:rPr>
              <a:t>• Em 1996, </a:t>
            </a:r>
            <a:r>
              <a:rPr lang="pt-BR" sz="2000" b="0" i="0" dirty="0">
                <a:solidFill>
                  <a:schemeClr val="tx1"/>
                </a:solidFill>
                <a:effectLst/>
              </a:rPr>
              <a:t>Kent Beck foi chamado pela montadora de carros Chrysler para analisar o desempenho de um projeto chamado C3,</a:t>
            </a:r>
            <a:r>
              <a:rPr lang="pt-BR" sz="2000" dirty="0">
                <a:solidFill>
                  <a:srgbClr val="000000"/>
                </a:solidFill>
              </a:rPr>
              <a:t> </a:t>
            </a:r>
            <a:r>
              <a:rPr lang="pt-BR" sz="2000" dirty="0">
                <a:solidFill>
                  <a:schemeClr val="tx1"/>
                </a:solidFill>
              </a:rPr>
              <a:t>u</a:t>
            </a:r>
            <a:r>
              <a:rPr lang="pt-BR" sz="2000" b="0" i="0" dirty="0">
                <a:solidFill>
                  <a:schemeClr val="tx1"/>
                </a:solidFill>
                <a:effectLst/>
              </a:rPr>
              <a:t>m sistema de controle de folha de pagamento para os mais de 86 mil funcionários da empresa e que era considerado um fracasso até então.</a:t>
            </a:r>
          </a:p>
          <a:p>
            <a:pPr marL="0" indent="0">
              <a:buNone/>
            </a:pPr>
            <a:r>
              <a:rPr lang="pt-BR" sz="2000" dirty="0">
                <a:solidFill>
                  <a:srgbClr val="000000"/>
                </a:solidFill>
              </a:rPr>
              <a:t>• Essa se torna a oportunidade perfeita para a implementação da metodologia ágil que seria conhecida como Extreme </a:t>
            </a:r>
            <a:r>
              <a:rPr lang="pt-BR" sz="2000" dirty="0" err="1">
                <a:solidFill>
                  <a:srgbClr val="000000"/>
                </a:solidFill>
              </a:rPr>
              <a:t>Programming</a:t>
            </a:r>
            <a:r>
              <a:rPr lang="pt-BR" sz="2000" dirty="0">
                <a:solidFill>
                  <a:srgbClr val="000000"/>
                </a:solidFill>
              </a:rPr>
              <a:t>, ou XP.</a:t>
            </a: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7" y="784708"/>
            <a:ext cx="6798734" cy="1303867"/>
          </a:xfrm>
        </p:spPr>
        <p:txBody>
          <a:bodyPr>
            <a:normAutofit/>
          </a:bodyPr>
          <a:lstStyle/>
          <a:p>
            <a:r>
              <a:rPr sz="6000" dirty="0">
                <a:solidFill>
                  <a:srgbClr val="000000"/>
                </a:solidFill>
              </a:rPr>
              <a:t>O </a:t>
            </a:r>
            <a:r>
              <a:rPr sz="6000" dirty="0" err="1">
                <a:solidFill>
                  <a:srgbClr val="000000"/>
                </a:solidFill>
              </a:rPr>
              <a:t>Criador</a:t>
            </a:r>
            <a:r>
              <a:rPr sz="6000" dirty="0">
                <a:solidFill>
                  <a:srgbClr val="000000"/>
                </a:solidFill>
              </a:rPr>
              <a:t>: Kent Beck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• </a:t>
            </a:r>
            <a:r>
              <a:rPr sz="2200" dirty="0" err="1">
                <a:solidFill>
                  <a:srgbClr val="000000"/>
                </a:solidFill>
              </a:rPr>
              <a:t>Programador</a:t>
            </a:r>
            <a:r>
              <a:rPr sz="2200" dirty="0">
                <a:solidFill>
                  <a:srgbClr val="000000"/>
                </a:solidFill>
              </a:rPr>
              <a:t> </a:t>
            </a:r>
            <a:r>
              <a:rPr sz="2200" dirty="0" err="1">
                <a:solidFill>
                  <a:srgbClr val="000000"/>
                </a:solidFill>
              </a:rPr>
              <a:t>norte</a:t>
            </a:r>
            <a:r>
              <a:rPr sz="2200" dirty="0">
                <a:solidFill>
                  <a:srgbClr val="000000"/>
                </a:solidFill>
              </a:rPr>
              <a:t>-americano, </a:t>
            </a:r>
            <a:r>
              <a:rPr sz="2200" dirty="0" err="1">
                <a:solidFill>
                  <a:srgbClr val="000000"/>
                </a:solidFill>
              </a:rPr>
              <a:t>nascido</a:t>
            </a:r>
            <a:r>
              <a:rPr sz="2200" dirty="0">
                <a:solidFill>
                  <a:srgbClr val="000000"/>
                </a:solidFill>
              </a:rPr>
              <a:t> </a:t>
            </a:r>
            <a:r>
              <a:rPr sz="2200" dirty="0" err="1">
                <a:solidFill>
                  <a:srgbClr val="000000"/>
                </a:solidFill>
              </a:rPr>
              <a:t>em</a:t>
            </a:r>
            <a:r>
              <a:rPr sz="2200" dirty="0">
                <a:solidFill>
                  <a:srgbClr val="000000"/>
                </a:solidFill>
              </a:rPr>
              <a:t> 1961.</a:t>
            </a:r>
          </a:p>
          <a:p>
            <a:pPr marL="0" indent="0">
              <a:buNone/>
            </a:pPr>
            <a:r>
              <a:rPr sz="2200" dirty="0">
                <a:solidFill>
                  <a:srgbClr val="000000"/>
                </a:solidFill>
              </a:rPr>
              <a:t>• Defensor da </a:t>
            </a:r>
            <a:r>
              <a:rPr lang="pt-BR" sz="2200" dirty="0">
                <a:solidFill>
                  <a:srgbClr val="000000"/>
                </a:solidFill>
              </a:rPr>
              <a:t>simplicidade</a:t>
            </a:r>
            <a:r>
              <a:rPr sz="2200" dirty="0">
                <a:solidFill>
                  <a:srgbClr val="000000"/>
                </a:solidFill>
              </a:rPr>
              <a:t>, testes </a:t>
            </a:r>
            <a:r>
              <a:rPr sz="2200" dirty="0" err="1">
                <a:solidFill>
                  <a:srgbClr val="000000"/>
                </a:solidFill>
              </a:rPr>
              <a:t>automatizados</a:t>
            </a:r>
            <a:r>
              <a:rPr lang="pt-BR" sz="2200" dirty="0">
                <a:solidFill>
                  <a:srgbClr val="000000"/>
                </a:solidFill>
              </a:rPr>
              <a:t>,</a:t>
            </a:r>
            <a:r>
              <a:rPr sz="2200" dirty="0">
                <a:solidFill>
                  <a:srgbClr val="000000"/>
                </a:solidFill>
              </a:rPr>
              <a:t> </a:t>
            </a:r>
            <a:r>
              <a:rPr lang="pt-BR" sz="2200" dirty="0">
                <a:solidFill>
                  <a:srgbClr val="000000"/>
                </a:solidFill>
              </a:rPr>
              <a:t>e </a:t>
            </a:r>
            <a:r>
              <a:rPr sz="2200" dirty="0">
                <a:solidFill>
                  <a:srgbClr val="000000"/>
                </a:solidFill>
              </a:rPr>
              <a:t>feedback </a:t>
            </a:r>
            <a:r>
              <a:rPr sz="2200" dirty="0" err="1">
                <a:solidFill>
                  <a:srgbClr val="000000"/>
                </a:solidFill>
              </a:rPr>
              <a:t>constante</a:t>
            </a:r>
            <a:r>
              <a:rPr lang="pt-BR" sz="2200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pt-BR" sz="2200" dirty="0">
                <a:solidFill>
                  <a:srgbClr val="000000"/>
                </a:solidFill>
              </a:rPr>
              <a:t> • Trabalhou na </a:t>
            </a:r>
            <a:r>
              <a:rPr lang="pt-BR" sz="2200" dirty="0" err="1">
                <a:solidFill>
                  <a:srgbClr val="000000"/>
                </a:solidFill>
              </a:rPr>
              <a:t>Tektronix</a:t>
            </a:r>
            <a:r>
              <a:rPr lang="pt-BR" sz="2200" dirty="0">
                <a:solidFill>
                  <a:srgbClr val="000000"/>
                </a:solidFill>
              </a:rPr>
              <a:t> Inc, onde reuniu bons princípios e práticas de programação.</a:t>
            </a:r>
          </a:p>
          <a:p>
            <a:pPr marL="0" indent="0">
              <a:buNone/>
            </a:pPr>
            <a:r>
              <a:rPr lang="pt-BR" sz="2200" dirty="0">
                <a:solidFill>
                  <a:srgbClr val="000000"/>
                </a:solidFill>
              </a:rPr>
              <a:t>• Criador da metodologia ágil ‘XP’ em 1996.</a:t>
            </a:r>
          </a:p>
          <a:p>
            <a:pPr marL="0" indent="0">
              <a:buNone/>
            </a:pPr>
            <a:r>
              <a:rPr lang="pt-BR" sz="2200" dirty="0">
                <a:solidFill>
                  <a:srgbClr val="000000"/>
                </a:solidFill>
              </a:rPr>
              <a:t>• Um dos 17 signatários do Manifesto Ágil, </a:t>
            </a:r>
            <a:r>
              <a:rPr lang="pt-BR" sz="2200" b="0" i="0" dirty="0">
                <a:solidFill>
                  <a:schemeClr val="tx1"/>
                </a:solidFill>
                <a:effectLst/>
              </a:rPr>
              <a:t>um documento criado em 2001 que estabeleceu os valores e princípios para o desenvolvimento ágil de software como alternativa aos métodos tradicionais, formalizando o XP e outras metodologias ágeis.</a:t>
            </a:r>
            <a:endParaRPr lang="pt-BR" sz="2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6000" dirty="0" err="1">
                <a:solidFill>
                  <a:srgbClr val="000000"/>
                </a:solidFill>
              </a:rPr>
              <a:t>Princípios</a:t>
            </a:r>
            <a:r>
              <a:rPr sz="6000" dirty="0">
                <a:solidFill>
                  <a:srgbClr val="000000"/>
                </a:solidFill>
              </a:rPr>
              <a:t> </a:t>
            </a:r>
            <a:r>
              <a:rPr lang="pt-BR" sz="6000" dirty="0">
                <a:solidFill>
                  <a:srgbClr val="000000"/>
                </a:solidFill>
              </a:rPr>
              <a:t>básicos </a:t>
            </a:r>
            <a:r>
              <a:rPr sz="6000" dirty="0">
                <a:solidFill>
                  <a:srgbClr val="000000"/>
                </a:solidFill>
              </a:rPr>
              <a:t>do XP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</a:rPr>
              <a:t>• </a:t>
            </a:r>
            <a:r>
              <a:rPr sz="2000" b="1" dirty="0" err="1">
                <a:solidFill>
                  <a:srgbClr val="000000"/>
                </a:solidFill>
              </a:rPr>
              <a:t>Comunicação</a:t>
            </a:r>
            <a:r>
              <a:rPr lang="pt-BR" sz="2000" b="1" dirty="0">
                <a:solidFill>
                  <a:srgbClr val="000000"/>
                </a:solidFill>
              </a:rPr>
              <a:t>: </a:t>
            </a:r>
            <a:r>
              <a:rPr lang="pt-BR" sz="2000" dirty="0">
                <a:solidFill>
                  <a:srgbClr val="000000"/>
                </a:solidFill>
              </a:rPr>
              <a:t>interação máxima, comunicação face a face, trabalho na mesma sala.</a:t>
            </a:r>
            <a:endParaRPr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</a:rPr>
              <a:t>• </a:t>
            </a:r>
            <a:r>
              <a:rPr sz="2000" b="1" dirty="0" err="1">
                <a:solidFill>
                  <a:srgbClr val="000000"/>
                </a:solidFill>
              </a:rPr>
              <a:t>Simplicidade</a:t>
            </a:r>
            <a:r>
              <a:rPr lang="pt-BR" sz="2000" b="1" dirty="0">
                <a:solidFill>
                  <a:srgbClr val="000000"/>
                </a:solidFill>
              </a:rPr>
              <a:t>: </a:t>
            </a:r>
            <a:r>
              <a:rPr lang="pt-BR" sz="2000" dirty="0">
                <a:solidFill>
                  <a:srgbClr val="000000"/>
                </a:solidFill>
              </a:rPr>
              <a:t> fazer bem e apenas o que for preciso e urgente.</a:t>
            </a:r>
            <a:endParaRPr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</a:rPr>
              <a:t>• Feedback</a:t>
            </a:r>
            <a:r>
              <a:rPr lang="pt-BR" sz="2000" b="1" dirty="0">
                <a:solidFill>
                  <a:srgbClr val="000000"/>
                </a:solidFill>
              </a:rPr>
              <a:t>: </a:t>
            </a:r>
            <a:r>
              <a:rPr lang="pt-BR" sz="2000" dirty="0">
                <a:solidFill>
                  <a:srgbClr val="000000"/>
                </a:solidFill>
              </a:rPr>
              <a:t>constante, mantendo o cliente em contato máximo com o desenvolvimento.</a:t>
            </a:r>
            <a:endParaRPr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</a:rPr>
              <a:t>• </a:t>
            </a:r>
            <a:r>
              <a:rPr sz="2000" b="1" dirty="0" err="1">
                <a:solidFill>
                  <a:srgbClr val="000000"/>
                </a:solidFill>
              </a:rPr>
              <a:t>Coragem</a:t>
            </a:r>
            <a:r>
              <a:rPr lang="pt-BR" sz="2000" b="1" dirty="0">
                <a:solidFill>
                  <a:srgbClr val="000000"/>
                </a:solidFill>
              </a:rPr>
              <a:t>: </a:t>
            </a:r>
            <a:r>
              <a:rPr lang="pt-BR" sz="2000" dirty="0">
                <a:solidFill>
                  <a:srgbClr val="000000"/>
                </a:solidFill>
              </a:rPr>
              <a:t>fazer o certo e modernizar, mesmo quando não pareça ser o mais popular.</a:t>
            </a:r>
            <a:endParaRPr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</a:rPr>
              <a:t>• </a:t>
            </a:r>
            <a:r>
              <a:rPr sz="2000" b="1" dirty="0" err="1">
                <a:solidFill>
                  <a:srgbClr val="000000"/>
                </a:solidFill>
              </a:rPr>
              <a:t>Respeito</a:t>
            </a:r>
            <a:r>
              <a:rPr lang="pt-BR" sz="2000" b="1" dirty="0">
                <a:solidFill>
                  <a:srgbClr val="000000"/>
                </a:solidFill>
              </a:rPr>
              <a:t>: </a:t>
            </a:r>
            <a:r>
              <a:rPr lang="pt-BR" sz="2000" dirty="0">
                <a:solidFill>
                  <a:srgbClr val="000000"/>
                </a:solidFill>
              </a:rPr>
              <a:t>tanto entre a equipe, quanto com o cliente.</a:t>
            </a:r>
            <a:endParaRPr sz="2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29" y="716177"/>
            <a:ext cx="6798734" cy="1303867"/>
          </a:xfrm>
        </p:spPr>
        <p:txBody>
          <a:bodyPr>
            <a:normAutofit/>
          </a:bodyPr>
          <a:lstStyle/>
          <a:p>
            <a:r>
              <a:rPr sz="6000" dirty="0" err="1">
                <a:solidFill>
                  <a:srgbClr val="000000"/>
                </a:solidFill>
              </a:rPr>
              <a:t>Características</a:t>
            </a:r>
            <a:r>
              <a:rPr sz="6000" dirty="0">
                <a:solidFill>
                  <a:srgbClr val="000000"/>
                </a:solidFill>
              </a:rPr>
              <a:t> do XP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629" y="2377439"/>
            <a:ext cx="6798736" cy="3631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900" dirty="0">
                <a:solidFill>
                  <a:srgbClr val="000000"/>
                </a:solidFill>
              </a:rPr>
              <a:t>• </a:t>
            </a:r>
            <a:r>
              <a:rPr sz="1900" dirty="0" err="1">
                <a:solidFill>
                  <a:srgbClr val="000000"/>
                </a:solidFill>
              </a:rPr>
              <a:t>Curto</a:t>
            </a:r>
            <a:r>
              <a:rPr lang="pt-BR" sz="1900" dirty="0">
                <a:solidFill>
                  <a:srgbClr val="000000"/>
                </a:solidFill>
              </a:rPr>
              <a:t>s</a:t>
            </a:r>
            <a:r>
              <a:rPr sz="1900" dirty="0">
                <a:solidFill>
                  <a:srgbClr val="000000"/>
                </a:solidFill>
              </a:rPr>
              <a:t> </a:t>
            </a:r>
            <a:r>
              <a:rPr sz="1900" dirty="0" err="1">
                <a:solidFill>
                  <a:srgbClr val="000000"/>
                </a:solidFill>
              </a:rPr>
              <a:t>ciclo</a:t>
            </a:r>
            <a:r>
              <a:rPr lang="pt-BR" sz="1900" dirty="0">
                <a:solidFill>
                  <a:srgbClr val="000000"/>
                </a:solidFill>
              </a:rPr>
              <a:t>s</a:t>
            </a:r>
            <a:r>
              <a:rPr sz="1900" dirty="0">
                <a:solidFill>
                  <a:srgbClr val="000000"/>
                </a:solidFill>
              </a:rPr>
              <a:t> de </a:t>
            </a:r>
            <a:r>
              <a:rPr sz="1900" dirty="0" err="1">
                <a:solidFill>
                  <a:srgbClr val="000000"/>
                </a:solidFill>
              </a:rPr>
              <a:t>desenvolvimento</a:t>
            </a:r>
            <a:r>
              <a:rPr lang="pt-BR" sz="1900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sz="1900" dirty="0">
                <a:solidFill>
                  <a:srgbClr val="000000"/>
                </a:solidFill>
              </a:rPr>
              <a:t>• </a:t>
            </a:r>
            <a:r>
              <a:rPr sz="1900" dirty="0" err="1">
                <a:solidFill>
                  <a:srgbClr val="000000"/>
                </a:solidFill>
              </a:rPr>
              <a:t>Entregas</a:t>
            </a:r>
            <a:r>
              <a:rPr sz="1900" dirty="0">
                <a:solidFill>
                  <a:srgbClr val="000000"/>
                </a:solidFill>
              </a:rPr>
              <a:t> </a:t>
            </a:r>
            <a:r>
              <a:rPr sz="1900" dirty="0" err="1">
                <a:solidFill>
                  <a:srgbClr val="000000"/>
                </a:solidFill>
              </a:rPr>
              <a:t>incrementais</a:t>
            </a:r>
            <a:r>
              <a:rPr lang="pt-BR" sz="1900" dirty="0">
                <a:solidFill>
                  <a:srgbClr val="000000"/>
                </a:solidFill>
              </a:rPr>
              <a:t> e mudanças pequenas, semanais.</a:t>
            </a:r>
          </a:p>
          <a:p>
            <a:pPr marL="0" indent="0">
              <a:buNone/>
            </a:pPr>
            <a:r>
              <a:rPr lang="pt-BR" sz="1900" dirty="0">
                <a:solidFill>
                  <a:srgbClr val="000000"/>
                </a:solidFill>
              </a:rPr>
              <a:t>• Ritmo de trabalho sustentável.</a:t>
            </a:r>
            <a:endParaRPr sz="19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1900" dirty="0">
                <a:solidFill>
                  <a:srgbClr val="000000"/>
                </a:solidFill>
              </a:rPr>
              <a:t>• </a:t>
            </a:r>
            <a:r>
              <a:rPr sz="1900" dirty="0" err="1">
                <a:solidFill>
                  <a:srgbClr val="000000"/>
                </a:solidFill>
              </a:rPr>
              <a:t>Foco</a:t>
            </a:r>
            <a:r>
              <a:rPr sz="1900" dirty="0">
                <a:solidFill>
                  <a:srgbClr val="000000"/>
                </a:solidFill>
              </a:rPr>
              <a:t> </a:t>
            </a:r>
            <a:r>
              <a:rPr sz="1900" dirty="0" err="1">
                <a:solidFill>
                  <a:srgbClr val="000000"/>
                </a:solidFill>
              </a:rPr>
              <a:t>na</a:t>
            </a:r>
            <a:r>
              <a:rPr sz="1900" dirty="0">
                <a:solidFill>
                  <a:srgbClr val="000000"/>
                </a:solidFill>
              </a:rPr>
              <a:t> </a:t>
            </a:r>
            <a:r>
              <a:rPr sz="1900" dirty="0" err="1">
                <a:solidFill>
                  <a:srgbClr val="000000"/>
                </a:solidFill>
              </a:rPr>
              <a:t>qualidade</a:t>
            </a:r>
            <a:r>
              <a:rPr sz="1900" dirty="0">
                <a:solidFill>
                  <a:srgbClr val="000000"/>
                </a:solidFill>
              </a:rPr>
              <a:t> do software</a:t>
            </a:r>
            <a:r>
              <a:rPr lang="pt-BR" sz="1900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pt-BR" sz="1900" dirty="0">
                <a:solidFill>
                  <a:srgbClr val="000000"/>
                </a:solidFill>
              </a:rPr>
              <a:t>• Equipe feita por </a:t>
            </a:r>
            <a:r>
              <a:rPr lang="pt-BR" sz="1900" b="1" dirty="0">
                <a:solidFill>
                  <a:srgbClr val="000000"/>
                </a:solidFill>
              </a:rPr>
              <a:t>desenvolvedores</a:t>
            </a:r>
            <a:r>
              <a:rPr lang="pt-BR" sz="1900" dirty="0">
                <a:solidFill>
                  <a:srgbClr val="000000"/>
                </a:solidFill>
              </a:rPr>
              <a:t> (programador multidisciplinar), </a:t>
            </a:r>
            <a:r>
              <a:rPr lang="pt-BR" sz="1900" b="1" dirty="0">
                <a:solidFill>
                  <a:srgbClr val="000000"/>
                </a:solidFill>
              </a:rPr>
              <a:t>cliente</a:t>
            </a:r>
            <a:r>
              <a:rPr lang="pt-BR" sz="1900" dirty="0">
                <a:solidFill>
                  <a:srgbClr val="000000"/>
                </a:solidFill>
              </a:rPr>
              <a:t> (ou representante), </a:t>
            </a:r>
            <a:r>
              <a:rPr lang="pt-BR" sz="1900" b="1" dirty="0">
                <a:solidFill>
                  <a:srgbClr val="000000"/>
                </a:solidFill>
              </a:rPr>
              <a:t>treinador</a:t>
            </a:r>
            <a:r>
              <a:rPr lang="pt-BR" sz="1900" dirty="0">
                <a:solidFill>
                  <a:srgbClr val="000000"/>
                </a:solidFill>
              </a:rPr>
              <a:t> (coach), </a:t>
            </a:r>
            <a:r>
              <a:rPr lang="pt-BR" sz="1900" b="1" dirty="0">
                <a:solidFill>
                  <a:srgbClr val="000000"/>
                </a:solidFill>
              </a:rPr>
              <a:t>testador</a:t>
            </a:r>
            <a:r>
              <a:rPr lang="pt-BR" sz="1900" dirty="0">
                <a:solidFill>
                  <a:srgbClr val="000000"/>
                </a:solidFill>
              </a:rPr>
              <a:t> (</a:t>
            </a:r>
            <a:r>
              <a:rPr lang="pt-BR" sz="1900" dirty="0" err="1">
                <a:solidFill>
                  <a:srgbClr val="000000"/>
                </a:solidFill>
              </a:rPr>
              <a:t>tester</a:t>
            </a:r>
            <a:r>
              <a:rPr lang="pt-BR" sz="1900" dirty="0">
                <a:solidFill>
                  <a:srgbClr val="000000"/>
                </a:solidFill>
              </a:rPr>
              <a:t>), </a:t>
            </a:r>
            <a:r>
              <a:rPr lang="pt-BR" sz="1900" b="1" dirty="0">
                <a:solidFill>
                  <a:srgbClr val="000000"/>
                </a:solidFill>
              </a:rPr>
              <a:t>limpador</a:t>
            </a:r>
            <a:r>
              <a:rPr lang="pt-BR" sz="1900" dirty="0">
                <a:solidFill>
                  <a:srgbClr val="000000"/>
                </a:solidFill>
              </a:rPr>
              <a:t> (</a:t>
            </a:r>
            <a:r>
              <a:rPr lang="pt-BR" sz="1900" dirty="0" err="1">
                <a:solidFill>
                  <a:srgbClr val="000000"/>
                </a:solidFill>
              </a:rPr>
              <a:t>cleaner</a:t>
            </a:r>
            <a:r>
              <a:rPr lang="pt-BR" sz="1900" dirty="0">
                <a:solidFill>
                  <a:srgbClr val="000000"/>
                </a:solidFill>
              </a:rPr>
              <a:t>), </a:t>
            </a:r>
            <a:r>
              <a:rPr lang="pt-BR" sz="1900" b="1" dirty="0">
                <a:solidFill>
                  <a:srgbClr val="000000"/>
                </a:solidFill>
              </a:rPr>
              <a:t>rastreador</a:t>
            </a:r>
            <a:r>
              <a:rPr lang="pt-BR" sz="1900" dirty="0">
                <a:solidFill>
                  <a:srgbClr val="000000"/>
                </a:solidFill>
              </a:rPr>
              <a:t> (</a:t>
            </a:r>
            <a:r>
              <a:rPr lang="pt-BR" sz="1900" dirty="0" err="1">
                <a:solidFill>
                  <a:srgbClr val="000000"/>
                </a:solidFill>
              </a:rPr>
              <a:t>tracker</a:t>
            </a:r>
            <a:r>
              <a:rPr lang="pt-BR" sz="1900" dirty="0">
                <a:solidFill>
                  <a:srgbClr val="000000"/>
                </a:solidFill>
              </a:rPr>
              <a:t>) e </a:t>
            </a:r>
            <a:r>
              <a:rPr lang="pt-BR" sz="1900" b="1" dirty="0">
                <a:solidFill>
                  <a:srgbClr val="000000"/>
                </a:solidFill>
              </a:rPr>
              <a:t>líder/gerente</a:t>
            </a:r>
            <a:r>
              <a:rPr lang="pt-BR" sz="1900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r>
              <a:rPr lang="pt-BR" sz="1900" dirty="0">
                <a:solidFill>
                  <a:srgbClr val="000000"/>
                </a:solidFill>
              </a:rPr>
              <a:t>Recomendado para equipes pequenas ou médias (até 10 programadores) com vasto conhecimento técnico, e softwares com requisitos vagos e em constante mudança.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848542"/>
            <a:ext cx="6798734" cy="1303867"/>
          </a:xfrm>
        </p:spPr>
        <p:txBody>
          <a:bodyPr>
            <a:noAutofit/>
          </a:bodyPr>
          <a:lstStyle/>
          <a:p>
            <a:r>
              <a:rPr sz="5400" dirty="0" err="1">
                <a:solidFill>
                  <a:srgbClr val="000000"/>
                </a:solidFill>
              </a:rPr>
              <a:t>Práticas</a:t>
            </a:r>
            <a:r>
              <a:rPr sz="5400" dirty="0">
                <a:solidFill>
                  <a:srgbClr val="000000"/>
                </a:solidFill>
              </a:rPr>
              <a:t> </a:t>
            </a:r>
            <a:r>
              <a:rPr sz="5400" dirty="0" err="1">
                <a:solidFill>
                  <a:srgbClr val="000000"/>
                </a:solidFill>
              </a:rPr>
              <a:t>Fundamentais</a:t>
            </a:r>
            <a:r>
              <a:rPr sz="5400" dirty="0">
                <a:solidFill>
                  <a:srgbClr val="000000"/>
                </a:solidFill>
              </a:rPr>
              <a:t> (</a:t>
            </a:r>
            <a:r>
              <a:rPr sz="5400" dirty="0" err="1">
                <a:solidFill>
                  <a:srgbClr val="000000"/>
                </a:solidFill>
              </a:rPr>
              <a:t>Parte</a:t>
            </a:r>
            <a:r>
              <a:rPr sz="5400" dirty="0">
                <a:solidFill>
                  <a:srgbClr val="000000"/>
                </a:solidFill>
              </a:rPr>
              <a:t>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359507"/>
            <a:ext cx="6798736" cy="37529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</a:rPr>
              <a:t>1. </a:t>
            </a:r>
            <a:r>
              <a:rPr lang="pt-BR" sz="2000" b="1" dirty="0">
                <a:solidFill>
                  <a:srgbClr val="000000"/>
                </a:solidFill>
              </a:rPr>
              <a:t>Jogo do Planejamento: </a:t>
            </a:r>
            <a:r>
              <a:rPr lang="pt-BR" sz="2000" dirty="0">
                <a:solidFill>
                  <a:srgbClr val="000000"/>
                </a:solidFill>
              </a:rPr>
              <a:t>escopo semanal para priorizar funcionalidades e apurar estimativas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2. Liberações Pequenas: </a:t>
            </a:r>
            <a:r>
              <a:rPr lang="pt-BR" sz="2000" dirty="0">
                <a:solidFill>
                  <a:srgbClr val="000000"/>
                </a:solidFill>
              </a:rPr>
              <a:t>liberação semanais de pequenas versões funcionais do projeto.</a:t>
            </a:r>
          </a:p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</a:rPr>
              <a:t>3. </a:t>
            </a:r>
            <a:r>
              <a:rPr lang="pt-BR" sz="2000" b="1" i="0" dirty="0">
                <a:solidFill>
                  <a:srgbClr val="131313"/>
                </a:solidFill>
                <a:effectLst/>
              </a:rPr>
              <a:t>Metáfora: </a:t>
            </a:r>
            <a:r>
              <a:rPr lang="pt-BR" sz="2000" b="0" i="0" dirty="0">
                <a:solidFill>
                  <a:srgbClr val="131313"/>
                </a:solidFill>
                <a:effectLst/>
              </a:rPr>
              <a:t>procura facilitar a comunicação padronizando termos entre equipe e cliente</a:t>
            </a:r>
          </a:p>
          <a:p>
            <a:pPr marL="0" indent="0">
              <a:buNone/>
            </a:pPr>
            <a:r>
              <a:rPr sz="2000" b="1" dirty="0">
                <a:solidFill>
                  <a:srgbClr val="000000"/>
                </a:solidFill>
              </a:rPr>
              <a:t>4. </a:t>
            </a:r>
            <a:r>
              <a:rPr lang="pt-BR" sz="2000" b="1" i="0" dirty="0">
                <a:solidFill>
                  <a:srgbClr val="131313"/>
                </a:solidFill>
                <a:effectLst/>
              </a:rPr>
              <a:t>Design Simples: </a:t>
            </a:r>
            <a:r>
              <a:rPr lang="pt-BR" sz="2000" b="0" i="0" dirty="0">
                <a:solidFill>
                  <a:srgbClr val="131313"/>
                </a:solidFill>
                <a:effectLst/>
              </a:rPr>
              <a:t>manter a simplicidade para manter a funcionalidade.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0000"/>
                </a:solidFill>
              </a:rPr>
              <a:t>5. </a:t>
            </a:r>
            <a:r>
              <a:rPr lang="pt-BR" sz="2000" b="1" dirty="0" err="1">
                <a:solidFill>
                  <a:srgbClr val="000000"/>
                </a:solidFill>
              </a:rPr>
              <a:t>Refatoração</a:t>
            </a:r>
            <a:r>
              <a:rPr lang="pt-BR" sz="2000" b="1" dirty="0">
                <a:solidFill>
                  <a:srgbClr val="000000"/>
                </a:solidFill>
              </a:rPr>
              <a:t>: </a:t>
            </a:r>
            <a:r>
              <a:rPr lang="pt-BR" sz="2000" dirty="0">
                <a:solidFill>
                  <a:srgbClr val="000000"/>
                </a:solidFill>
              </a:rPr>
              <a:t>melhoras constantes no código antes da efetivação de alterações, mantendo o aumento da qualidade.</a:t>
            </a:r>
          </a:p>
          <a:p>
            <a:pPr marL="0" indent="0">
              <a:buNone/>
            </a:pPr>
            <a:endParaRPr lang="pt-BR" sz="2000" b="0" i="0" dirty="0">
              <a:solidFill>
                <a:srgbClr val="131313"/>
              </a:solidFill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835478"/>
            <a:ext cx="6798734" cy="1303867"/>
          </a:xfrm>
        </p:spPr>
        <p:txBody>
          <a:bodyPr>
            <a:noAutofit/>
          </a:bodyPr>
          <a:lstStyle/>
          <a:p>
            <a:r>
              <a:rPr sz="5400" dirty="0" err="1">
                <a:solidFill>
                  <a:srgbClr val="000000"/>
                </a:solidFill>
              </a:rPr>
              <a:t>Práticas</a:t>
            </a:r>
            <a:r>
              <a:rPr sz="5400" dirty="0">
                <a:solidFill>
                  <a:srgbClr val="000000"/>
                </a:solidFill>
              </a:rPr>
              <a:t> </a:t>
            </a:r>
            <a:r>
              <a:rPr sz="5400" dirty="0" err="1">
                <a:solidFill>
                  <a:srgbClr val="000000"/>
                </a:solidFill>
              </a:rPr>
              <a:t>Fundamentais</a:t>
            </a:r>
            <a:r>
              <a:rPr sz="5400" dirty="0">
                <a:solidFill>
                  <a:srgbClr val="000000"/>
                </a:solidFill>
              </a:rPr>
              <a:t> (</a:t>
            </a:r>
            <a:r>
              <a:rPr sz="5400" dirty="0" err="1">
                <a:solidFill>
                  <a:srgbClr val="000000"/>
                </a:solidFill>
              </a:rPr>
              <a:t>Parte</a:t>
            </a:r>
            <a:r>
              <a:rPr sz="5400" dirty="0">
                <a:solidFill>
                  <a:srgbClr val="000000"/>
                </a:solidFill>
              </a:rPr>
              <a:t> </a:t>
            </a:r>
            <a:r>
              <a:rPr lang="pt-BR" sz="5400" dirty="0">
                <a:solidFill>
                  <a:srgbClr val="000000"/>
                </a:solidFill>
              </a:rPr>
              <a:t>2</a:t>
            </a:r>
            <a:r>
              <a:rPr sz="54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631" y="2372569"/>
            <a:ext cx="6798736" cy="38061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000000"/>
                </a:solidFill>
              </a:rPr>
              <a:t>6. Programação em Pares: </a:t>
            </a:r>
            <a:r>
              <a:rPr lang="pt-BR" dirty="0">
                <a:solidFill>
                  <a:srgbClr val="000000"/>
                </a:solidFill>
              </a:rPr>
              <a:t>todo código é escrito em pares com funções distintas, lado a lado na mesma tela e com trocas constantes.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00"/>
                </a:solidFill>
              </a:rPr>
              <a:t>7. Propriedade Coletiva: </a:t>
            </a:r>
            <a:r>
              <a:rPr lang="pt-BR" dirty="0">
                <a:solidFill>
                  <a:srgbClr val="000000"/>
                </a:solidFill>
              </a:rPr>
              <a:t>ninguém é dono do código fonte, descartando a necessidade de solicitar autorização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00"/>
                </a:solidFill>
              </a:rPr>
              <a:t>8. Integração Contínua: </a:t>
            </a:r>
            <a:r>
              <a:rPr lang="pt-BR" dirty="0">
                <a:solidFill>
                  <a:srgbClr val="000000"/>
                </a:solidFill>
              </a:rPr>
              <a:t>código integrado diariamente com teste antes e depois da integração, e erros corrigidos assim que identificados.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00"/>
                </a:solidFill>
              </a:rPr>
              <a:t>9. Ritmo Sustentável: </a:t>
            </a:r>
            <a:r>
              <a:rPr lang="pt-BR" dirty="0">
                <a:solidFill>
                  <a:srgbClr val="000000"/>
                </a:solidFill>
              </a:rPr>
              <a:t>trabalho saudável e com qualidade, sem horas extras e com motivação constante através de coachs e líderes.</a:t>
            </a:r>
          </a:p>
          <a:p>
            <a:pPr marL="0" indent="0">
              <a:buNone/>
            </a:pPr>
            <a:r>
              <a:rPr lang="pt-BR" b="1" dirty="0">
                <a:solidFill>
                  <a:srgbClr val="000000"/>
                </a:solidFill>
              </a:rPr>
              <a:t>10. Cliente Sempre Disponível: </a:t>
            </a:r>
            <a:r>
              <a:rPr lang="pt-BR" dirty="0">
                <a:solidFill>
                  <a:srgbClr val="000000"/>
                </a:solidFill>
              </a:rPr>
              <a:t>cliente sempre presente em todas as etapas através de um representante do mesmo que fará parte da equipe de trabalho.</a:t>
            </a:r>
            <a:endParaRPr lang="pt-BR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pt-BR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35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797771"/>
            <a:ext cx="6798734" cy="1303867"/>
          </a:xfrm>
        </p:spPr>
        <p:txBody>
          <a:bodyPr>
            <a:noAutofit/>
          </a:bodyPr>
          <a:lstStyle/>
          <a:p>
            <a:r>
              <a:rPr sz="5400" dirty="0" err="1">
                <a:solidFill>
                  <a:srgbClr val="000000"/>
                </a:solidFill>
              </a:rPr>
              <a:t>Práticas</a:t>
            </a:r>
            <a:r>
              <a:rPr sz="5400" dirty="0">
                <a:solidFill>
                  <a:srgbClr val="000000"/>
                </a:solidFill>
              </a:rPr>
              <a:t> </a:t>
            </a:r>
            <a:r>
              <a:rPr sz="5400" dirty="0" err="1">
                <a:solidFill>
                  <a:srgbClr val="000000"/>
                </a:solidFill>
              </a:rPr>
              <a:t>Fundamentais</a:t>
            </a:r>
            <a:r>
              <a:rPr sz="5400" dirty="0">
                <a:solidFill>
                  <a:srgbClr val="000000"/>
                </a:solidFill>
              </a:rPr>
              <a:t> (</a:t>
            </a:r>
            <a:r>
              <a:rPr sz="5400" dirty="0" err="1">
                <a:solidFill>
                  <a:srgbClr val="000000"/>
                </a:solidFill>
              </a:rPr>
              <a:t>Parte</a:t>
            </a:r>
            <a:r>
              <a:rPr sz="5400" dirty="0">
                <a:solidFill>
                  <a:srgbClr val="000000"/>
                </a:solidFill>
              </a:rPr>
              <a:t> </a:t>
            </a:r>
            <a:r>
              <a:rPr lang="pt-BR" sz="5400" dirty="0">
                <a:solidFill>
                  <a:srgbClr val="000000"/>
                </a:solidFill>
              </a:rPr>
              <a:t>3</a:t>
            </a:r>
            <a:r>
              <a:rPr sz="54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631" y="2359506"/>
            <a:ext cx="6798736" cy="3819225"/>
          </a:xfrm>
        </p:spPr>
        <p:txBody>
          <a:bodyPr/>
          <a:lstStyle/>
          <a:p>
            <a:pPr marL="0" indent="0">
              <a:buNone/>
            </a:pPr>
            <a:r>
              <a:rPr lang="pt-BR" sz="2000" b="1" dirty="0">
                <a:solidFill>
                  <a:srgbClr val="131313"/>
                </a:solidFill>
              </a:rPr>
              <a:t>11. Teste de Aceitação: </a:t>
            </a:r>
            <a:r>
              <a:rPr lang="pt-BR" sz="2000" dirty="0">
                <a:solidFill>
                  <a:srgbClr val="131313"/>
                </a:solidFill>
              </a:rPr>
              <a:t>testes frequentes em conjunto entre analistas, testadores e o cliente.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131313"/>
                </a:solidFill>
              </a:rPr>
              <a:t>12. Padronização de Código: </a:t>
            </a:r>
            <a:r>
              <a:rPr lang="pt-BR" sz="2000" dirty="0">
                <a:solidFill>
                  <a:srgbClr val="131313"/>
                </a:solidFill>
              </a:rPr>
              <a:t>regras de padronização de código a serem seguidas por toda a equipe.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131313"/>
                </a:solidFill>
              </a:rPr>
              <a:t>13. Reuniões em Pé: </a:t>
            </a:r>
            <a:r>
              <a:rPr lang="pt-BR" sz="2000" dirty="0">
                <a:solidFill>
                  <a:srgbClr val="131313"/>
                </a:solidFill>
              </a:rPr>
              <a:t>pequenas reuniões diárias para avaliar feitos do dia anterior, estipular feitos pro dia atual e analisar possíveis impedimentos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131313"/>
                </a:solidFill>
              </a:rPr>
              <a:t>14. Tarefas Visuais: </a:t>
            </a:r>
            <a:r>
              <a:rPr lang="pt-BR" sz="2000" dirty="0">
                <a:solidFill>
                  <a:srgbClr val="131313"/>
                </a:solidFill>
              </a:rPr>
              <a:t>quadros para ajudar a visualização de tarefas e metas da equipe.</a:t>
            </a:r>
            <a:endParaRPr lang="pt-BR" sz="20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dirty="0" err="1">
                <a:solidFill>
                  <a:srgbClr val="000000"/>
                </a:solidFill>
              </a:rPr>
              <a:t>Benefícios</a:t>
            </a:r>
            <a:r>
              <a:rPr sz="6000" dirty="0">
                <a:solidFill>
                  <a:srgbClr val="000000"/>
                </a:solidFill>
              </a:rPr>
              <a:t> do XP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359506"/>
            <a:ext cx="6798736" cy="3793099"/>
          </a:xfrm>
        </p:spPr>
        <p:txBody>
          <a:bodyPr/>
          <a:lstStyle/>
          <a:p>
            <a:pPr marL="0" indent="0">
              <a:buNone/>
            </a:pPr>
            <a:r>
              <a:rPr sz="2000" dirty="0">
                <a:solidFill>
                  <a:srgbClr val="000000"/>
                </a:solidFill>
              </a:rPr>
              <a:t>• Software de </a:t>
            </a:r>
            <a:r>
              <a:rPr sz="2000" dirty="0" err="1">
                <a:solidFill>
                  <a:srgbClr val="000000"/>
                </a:solidFill>
              </a:rPr>
              <a:t>maior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qualidade</a:t>
            </a:r>
            <a:r>
              <a:rPr lang="pt-BR" sz="2000" dirty="0">
                <a:solidFill>
                  <a:srgbClr val="000000"/>
                </a:solidFill>
              </a:rPr>
              <a:t>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000000"/>
                </a:solidFill>
              </a:rPr>
              <a:t>• </a:t>
            </a:r>
            <a:r>
              <a:rPr sz="2000" dirty="0" err="1">
                <a:solidFill>
                  <a:srgbClr val="000000"/>
                </a:solidFill>
              </a:rPr>
              <a:t>Redução</a:t>
            </a:r>
            <a:r>
              <a:rPr sz="2000" dirty="0">
                <a:solidFill>
                  <a:srgbClr val="000000"/>
                </a:solidFill>
              </a:rPr>
              <a:t> de </a:t>
            </a:r>
            <a:r>
              <a:rPr sz="2000" dirty="0" err="1">
                <a:solidFill>
                  <a:srgbClr val="000000"/>
                </a:solidFill>
              </a:rPr>
              <a:t>erros</a:t>
            </a:r>
            <a:r>
              <a:rPr sz="2000" dirty="0">
                <a:solidFill>
                  <a:srgbClr val="000000"/>
                </a:solidFill>
              </a:rPr>
              <a:t> e </a:t>
            </a:r>
            <a:r>
              <a:rPr sz="2000" dirty="0" err="1">
                <a:solidFill>
                  <a:srgbClr val="000000"/>
                </a:solidFill>
              </a:rPr>
              <a:t>retrabalho</a:t>
            </a:r>
            <a:r>
              <a:rPr lang="pt-BR" sz="2000" dirty="0">
                <a:solidFill>
                  <a:srgbClr val="000000"/>
                </a:solidFill>
              </a:rPr>
              <a:t>s.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000000"/>
                </a:solidFill>
              </a:rPr>
              <a:t>• </a:t>
            </a:r>
            <a:r>
              <a:rPr sz="2000" dirty="0" err="1">
                <a:solidFill>
                  <a:srgbClr val="000000"/>
                </a:solidFill>
              </a:rPr>
              <a:t>Maior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satisfação</a:t>
            </a:r>
            <a:r>
              <a:rPr sz="2000" dirty="0">
                <a:solidFill>
                  <a:srgbClr val="000000"/>
                </a:solidFill>
              </a:rPr>
              <a:t> do </a:t>
            </a:r>
            <a:r>
              <a:rPr sz="2000" dirty="0" err="1">
                <a:solidFill>
                  <a:srgbClr val="000000"/>
                </a:solidFill>
              </a:rPr>
              <a:t>cliente</a:t>
            </a:r>
            <a:r>
              <a:rPr lang="pt-BR" sz="2000" dirty="0">
                <a:solidFill>
                  <a:srgbClr val="000000"/>
                </a:solidFill>
              </a:rPr>
              <a:t>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000000"/>
                </a:solidFill>
              </a:rPr>
              <a:t>• </a:t>
            </a:r>
            <a:r>
              <a:rPr sz="2000" dirty="0" err="1">
                <a:solidFill>
                  <a:srgbClr val="000000"/>
                </a:solidFill>
              </a:rPr>
              <a:t>Adaptação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rápida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às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mudanças</a:t>
            </a:r>
            <a:r>
              <a:rPr lang="pt-BR" sz="2000" dirty="0">
                <a:solidFill>
                  <a:srgbClr val="000000"/>
                </a:solidFill>
              </a:rPr>
              <a:t>.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dirty="0">
                <a:solidFill>
                  <a:srgbClr val="000000"/>
                </a:solidFill>
              </a:rPr>
              <a:t>• </a:t>
            </a:r>
            <a:r>
              <a:rPr sz="2000" dirty="0" err="1">
                <a:solidFill>
                  <a:srgbClr val="000000"/>
                </a:solidFill>
              </a:rPr>
              <a:t>Equipes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mais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colaborativas</a:t>
            </a:r>
            <a:r>
              <a:rPr lang="pt-BR" sz="2000" dirty="0">
                <a:solidFill>
                  <a:srgbClr val="000000"/>
                </a:solidFill>
              </a:rPr>
              <a:t>.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dirty="0">
                <a:solidFill>
                  <a:schemeClr val="tx1"/>
                </a:solidFill>
              </a:rPr>
              <a:t>Conclusão</a:t>
            </a:r>
            <a:endParaRPr sz="6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59" y="2490135"/>
            <a:ext cx="6596743" cy="34449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dirty="0"/>
              <a:t>	</a:t>
            </a:r>
            <a:r>
              <a:rPr lang="pt-BR" dirty="0">
                <a:solidFill>
                  <a:schemeClr val="tx1"/>
                </a:solidFill>
              </a:rPr>
              <a:t>Pode-se concluir que o XP transformou a forma de programar, pois valorizou tanto o aspecto humano quanto a excelência técnica, e também consolidou fundamentos que influenciam até hoje outras metodologias ágeis, tornando-se essencial no campo da Engenharia de Software e na formação de profissionais da área de Análise e Desenvolvimento de Sistemas.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TM02900743[[fn=Sisal]]</Template>
  <TotalTime>173</TotalTime>
  <Words>759</Words>
  <Application>Microsoft Office PowerPoint</Application>
  <PresentationFormat>Apresentação na tela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Orgânico</vt:lpstr>
      <vt:lpstr>eXtreme Programming (XP) </vt:lpstr>
      <vt:lpstr>Introdução Contexto Histórico</vt:lpstr>
      <vt:lpstr>O Criador: Kent Beck</vt:lpstr>
      <vt:lpstr>Princípios básicos do XP</vt:lpstr>
      <vt:lpstr>Características do XP</vt:lpstr>
      <vt:lpstr>Práticas Fundamentais (Parte 1)</vt:lpstr>
      <vt:lpstr>Práticas Fundamentais (Parte 2)</vt:lpstr>
      <vt:lpstr>Práticas Fundamentais (Parte 3)</vt:lpstr>
      <vt:lpstr>Benefícios do XP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Programming (XP) </dc:title>
  <dc:subject/>
  <dc:creator/>
  <cp:keywords/>
  <dc:description>generated using python-pptx</dc:description>
  <cp:lastModifiedBy>Sonny Heros</cp:lastModifiedBy>
  <cp:revision>19</cp:revision>
  <dcterms:created xsi:type="dcterms:W3CDTF">2013-01-27T09:14:16Z</dcterms:created>
  <dcterms:modified xsi:type="dcterms:W3CDTF">2025-09-17T02:45:37Z</dcterms:modified>
  <cp:category/>
</cp:coreProperties>
</file>